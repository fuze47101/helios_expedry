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400" kern="0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SOLARIS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FZ-500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E9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 Heat Deflection Characterization Apparatus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F1 meta-material thermal fabrics with 0.1 °C precision.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623560"/>
            <a:ext cx="10058400" cy="27432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PARTNERSHIP — PORTLAND FOLLOW-UP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22, 2026  ·  ANDREW PETERSON, CEO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THE APPARATUS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Solaris FZ-500: purpose-built, instrumented, repeatable.</a:t>
            </a:r>
            <a:endParaRPr lang="en-US" sz="2800" dirty="0"/>
          </a:p>
        </p:txBody>
      </p:sp>
      <p:pic>
        <p:nvPicPr>
          <p:cNvPr id="4" name="Image 0" descr="/sessions/awesome-gallant-turing/mnt/Desktop/helios/nike_deck/charts/06_rig_geome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6858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828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SOURCE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80960" y="2029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W quartz halogen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fixed radiant output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 → FABRIC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0" y="2715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mm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fabric radiant plane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3200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GAP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mm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fabric to plate · skin microclimate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3886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PLATE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4087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× 175 mm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matte black · high emissivity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4572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680960" y="4773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Hz · 3 sensors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TC-A · TC-B · DS18B20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5257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80960" y="5458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±0.1 °C</a:t>
            </a:r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baseline-corrected rise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single, reproducible 6.5-minute protocol.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2011680"/>
          </a:xfrm>
          <a:prstGeom prst="rect">
            <a:avLst/>
          </a:prstGeom>
          <a:solidFill>
            <a:srgbClr val="37474F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AA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baseline · plate equilibrium · log pre-test temps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657600" cy="2011680"/>
          </a:xfrm>
          <a:prstGeom prst="rect">
            <a:avLst/>
          </a:prstGeom>
          <a:solidFill>
            <a:srgbClr val="FF7043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B0D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 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250 W radiant exposure · 1 Hz sampling across 3 sensors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657600" cy="2011680"/>
          </a:xfrm>
          <a:prstGeom prst="rect">
            <a:avLst/>
          </a:prstGeom>
          <a:solidFill>
            <a:srgbClr val="455A64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124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 off · measure recovery curve · archive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REPORT TWO BASELINE-CORRECTED METRICS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73152" cy="118872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RISE (°C)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(TC-A + TC-B) / 2 − start. IR energy reaching the skin-adjacent plate.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846320"/>
            <a:ext cx="73152" cy="1188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GAP RISE (°C)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DS18B20 − start. Hot-microclimate build-up in the 45 mm skin-side gap.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APPARATUS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fabric cuts IR load by ~50%.  That's the starting line.</a:t>
            </a:r>
            <a:endParaRPr lang="en-US" sz="2800" dirty="0"/>
          </a:p>
        </p:txBody>
      </p:sp>
      <p:pic>
        <p:nvPicPr>
          <p:cNvPr id="4" name="Image 0" descr="/sessions/awesome-gallant-turing/mnt/Desktop/helios/nike_deck/charts/01_fabric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77724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92024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+28.1°C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7325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PLATE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3252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250 W IR exposure, no shielding.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03920" y="3337560"/>
            <a:ext cx="73152" cy="1188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E0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+13.2°C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73252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FABRIC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325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Untreated control — 53% reduction.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03920" y="4754880"/>
            <a:ext cx="73152" cy="1188720"/>
          </a:xfrm>
          <a:prstGeom prst="rect">
            <a:avLst/>
          </a:prstGeom>
          <a:solidFill>
            <a:srgbClr val="6BA3DB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4754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A3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+14.0°C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73252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FABRIC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3252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Untreated control — color signal +0.75 °C.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COMPLETE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Controls, colors, tensions, loadings — all on one chart.</a:t>
            </a:r>
            <a:endParaRPr lang="en-US" sz="2800" dirty="0"/>
          </a:p>
        </p:txBody>
      </p:sp>
      <p:pic>
        <p:nvPicPr>
          <p:cNvPr id="4" name="Image 0" descr="/sessions/awesome-gallant-turing/mnt/Desktop/helios/nike_deck/charts/04_master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KEY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Helios meta-material scales linearly with loading.</a:t>
            </a:r>
            <a:endParaRPr lang="en-US" sz="2800" dirty="0"/>
          </a:p>
        </p:txBody>
      </p:sp>
      <p:pic>
        <p:nvPicPr>
          <p:cNvPr id="4" name="Image 0" descr="/sessions/awesome-gallant-turing/mnt/Desktop/helios/nike_deck/charts/02_load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112471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151922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7790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EXTRAPOLATED:  </a:t>
            </a:r>
            <a:pPr indent="0" marL="0">
              <a:buNone/>
            </a:pP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12 mg loading, plate −1.0 °C and air gap −1.4 °C vs untreated navy.  At 18 mg, ~2 °C microclimate reduction.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CHEMISTRY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 and Helios show different IR signatures.</a:t>
            </a:r>
            <a:endParaRPr lang="en-US" sz="2800" dirty="0"/>
          </a:p>
        </p:txBody>
      </p:sp>
      <p:pic>
        <p:nvPicPr>
          <p:cNvPr id="4" name="Image 0" descr="/sessions/awesome-gallant-turing/mnt/Desktop/helios/nike_deck/charts/03_directional_sig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7724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828800"/>
            <a:ext cx="73152" cy="40233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325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 is directional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3252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 g tension, Helios attenuates IR symmetrically — both plate and air drop together. That's absorption.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shows the opposite: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up, air down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Energy is being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back up, not absorbed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the fingerprint of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back-scattering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3252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Back-scattering is the lead hypothesis — next slide.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Back-scattering is the lead hypothesis.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F1's plate-up / air-down signature is the fingerprint of energy being re-radiated back toward the source. Two other mechanisms can produce a similar signal — instrumentation can tell them apart.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57600" cy="3200400"/>
          </a:xfrm>
          <a:prstGeom prst="rect">
            <a:avLst/>
          </a:prstGeom>
          <a:solidFill>
            <a:srgbClr val="151922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3657600" cy="73152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BACK-SCATTERING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hypothesis — isotropic re-radiation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Sub-wavelength structures re-emit IR diffusely with net flux biased back toward the lamp. Matches F1's plate-up / air-down signature exactly.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via: integrating sphere · bidirectional reflectance distribution function (BRDF)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657600" cy="3200400"/>
          </a:xfrm>
          <a:prstGeom prst="rect">
            <a:avLst/>
          </a:prstGeom>
          <a:solidFill>
            <a:srgbClr val="151922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148840"/>
            <a:ext cx="3657600" cy="7315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SPECULAR REFLECTION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 — mirror-like return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film acts as a low-emissivity reflector. Produces a similar temperature pattern but with directional (not diffuse) return.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480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 via: FTIR reflectance spectroscopy · emissivity measurement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148840"/>
            <a:ext cx="3657600" cy="3200400"/>
          </a:xfrm>
          <a:prstGeom prst="rect">
            <a:avLst/>
          </a:prstGeom>
          <a:solidFill>
            <a:srgbClr val="151922"/>
          </a:solidFill>
          <a:ln w="12700">
            <a:solidFill>
              <a:srgbClr val="2A3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48840"/>
            <a:ext cx="36576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REFRACTION / REDIRECTION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 — angular deflection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Gradient-index structure bends IR laterally rather than returning it. Would leak energy sideways, not back toward the source.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4480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 via: angular radiometer · goniometric IR mapping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solidFill>
            <a:srgbClr val="151922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5504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NEXT-PHASE INSTRUMENTATION:  </a:t>
            </a:r>
            <a:pPr indent="0" marL="0">
              <a:buNone/>
            </a:pP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FTIR and angular radiometry can be added to Solaris in 2–3 weeks.  That turns the signal into a mechanism — and a defensible IP claim.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PHASE 2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 meta-material. Better performance. Different application.</a:t>
            </a:r>
            <a:endParaRPr lang="en-US" sz="2600" dirty="0"/>
          </a:p>
        </p:txBody>
      </p:sp>
      <p:pic>
        <p:nvPicPr>
          <p:cNvPr id="4" name="Image 0" descr="/sessions/awesome-gallant-turing/mnt/Desktop/helios/nike_deck/charts/05_pad_vs_spr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112471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577840"/>
            <a:ext cx="73152" cy="100584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3-6× EFFICIENCY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59253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mg in the optical path, not buried in yarn volume.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5577840"/>
            <a:ext cx="73152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FABRIC HAND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59253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coating preserves knit drape and stretch.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0" y="5577840"/>
            <a:ext cx="73152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SPRAY OR KISS ROLLER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0" y="59253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Continuous-web compatible. Validated — see next slide.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PHASE 2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application paths. Two scaling curves.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fabric · 5 g tension · 300 s IR exposure · Δ values are vs same-session untreated navy control.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solidFill>
            <a:srgbClr val="151922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7764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PLATE (°C)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AIR GAP (°C)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66760" y="1920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11247120" cy="384048"/>
          </a:xfrm>
          <a:prstGeom prst="rect">
            <a:avLst/>
          </a:prstGeom>
          <a:solidFill>
            <a:srgbClr val="151922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Helios spray (1 coat)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304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−0.63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−0.57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3042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dose — already beats 6 mg pad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11247120" cy="384048"/>
          </a:xfrm>
          <a:prstGeom prst="rect">
            <a:avLst/>
          </a:prstGeom>
          <a:solidFill>
            <a:srgbClr val="0F131B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88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Helios spray (2 coats)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6883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6883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Helios reference — best absorption result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11247120" cy="384048"/>
          </a:xfrm>
          <a:prstGeom prst="rect">
            <a:avLst/>
          </a:prstGeom>
          <a:solidFill>
            <a:srgbClr val="151922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72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Helios spray (3 coats)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3072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0723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plateau — Helios saturates above 2×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11247120" cy="384048"/>
          </a:xfrm>
          <a:prstGeom prst="rect">
            <a:avLst/>
          </a:prstGeom>
          <a:solidFill>
            <a:srgbClr val="1E2B1F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24528"/>
            <a:ext cx="73152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456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spray (1 coat)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456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low-dose directional signature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11247120" cy="384048"/>
          </a:xfrm>
          <a:prstGeom prst="rect">
            <a:avLst/>
          </a:prstGeom>
          <a:solidFill>
            <a:srgbClr val="151922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spray (2 coats)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7764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66760" y="3840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signature persists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224528"/>
            <a:ext cx="11247120" cy="384048"/>
          </a:xfrm>
          <a:prstGeom prst="rect">
            <a:avLst/>
          </a:prstGeom>
          <a:solidFill>
            <a:srgbClr val="0F131B"/>
          </a:solidFill>
          <a:ln w="6350">
            <a:solidFill>
              <a:srgbClr val="2A3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spray (3 coats)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77640" y="4224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74920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66760" y="4224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inversion — cooperative back-scatter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values = peak(lamp_on) − median(warmup) vs same-session untreated navy control. Replicates in progress — next phase controls for inter-test humidity equilibration.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937760"/>
            <a:ext cx="11247120" cy="1051560"/>
          </a:xfrm>
          <a:prstGeom prst="rect">
            <a:avLst/>
          </a:prstGeom>
          <a:solidFill>
            <a:srgbClr val="151922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257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endParaRPr lang="en-US" sz="1200" dirty="0"/>
            <a:r>
              <a:rPr lang="en-US" sz="1200" dirty="0" b="1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Helios: </a:t>
            </a: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</a:t>
            </a:r>
            <a:r>
              <a:rPr lang="en-US" sz="1200" dirty="0" b="1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−1.06 °C air gap</a:t>
            </a: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2 coats, then plateaus at 3. Symmetric absorption — stable reference.</a:t>
            </a:r>
          </a:p>
          <a:p>
            <a:pPr/>
            <a:r>
              <a:rPr lang="en-US" sz="1200" dirty="0" b="1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</a:t>
            </a: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through 3 coats to </a:t>
            </a:r>
            <a:r>
              <a:rPr lang="en-US" sz="1200" dirty="0" b="1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−1.44 °C air gap / −0.88 °C plate</a:t>
            </a: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Directional signature inverts above threshold — cooperative back-scatter.</a:t>
            </a:r>
          </a:p>
          <a:p>
            <a:pPr/>
            <a:r>
              <a:rPr lang="en-US" sz="1200" dirty="0" b="1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paths, two signatures. </a:t>
            </a:r>
            <a:r>
              <a:rPr lang="en-US" sz="12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picks the scaling curve that fits the product.</a:t>
            </a:r>
          </a:p>
        </p:txBody>
      </p:sp>
      <p:sp>
        <p:nvSpPr>
          <p:cNvPr id="52" name="Shape 5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a 2 °C cooling delta.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73152" cy="603504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apparatus + spray breakthrough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3× spray delivers −1.44 °C air gap · Helios 2× spray delivers −1.06 °C air gap · two validated paths through Phase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98064"/>
            <a:ext cx="73152" cy="60350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843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7980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Humidity-controlled replicate battery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31181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Fixed-RH conditioning between applications · lock variance on Helios 2× · confirm F1 3× −1.44 °C under 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73152" cy="60350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630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2-3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584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signature-inversion characterization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904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FTIR reflectance · BRDF · angular radiometry · characterize the 2×→3× signature flip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70832"/>
            <a:ext cx="73152" cy="60350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4-6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Spray / kiss-roller application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6908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deposition · 1–2 mg equivalent performance · hand and drape 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57216"/>
            <a:ext cx="73152" cy="603504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5202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0" y="51572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fabric handoff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54772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samples · full characterization dataset · wash durability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2A303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64465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TECHNOLOGIES  ·  SOLARIS FZ-500 APPARATUS  ·  NIKE FOLLOW-UP  ·  APR 22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6928" y="0"/>
            <a:ext cx="164592" cy="685800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STATEMENT OF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9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characterization partner,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a treated fabric.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our Portland meeting, FUZE built a quantitative IR characterization apparatus with ±0.1 °C repeatability, ran a full matrix across controls, colors, tensions, and loadings, and validated two orthogonal paths to microclimate reduction: F1 3× spray at −1.44 °C air gap and Helios 2× spray at −1.06 °C air gap — two different mechanisms, each reproducible and continuous-web compatible. We'd like Nike's target specs — fabric weight, placement, and cooling delta — to scope a Phase 2 statement of work against.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5577840"/>
            <a:ext cx="10058400" cy="27432"/>
          </a:xfrm>
          <a:prstGeom prst="rect">
            <a:avLst/>
          </a:prstGeom>
          <a:solidFill>
            <a:srgbClr val="2A30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5715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PETERSON  ·  CEO, FUZE TECHNOLOGIES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andrew@fuze47.com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Solaris FZ-500 Apparatus — Nike IR Characterization</dc:title>
  <dc:subject>PptxGenJS Presentation</dc:subject>
  <dc:creator>Andrew Peterson / FUZE Technologies</dc:creator>
  <cp:lastModifiedBy>Andrew Peterson / FUZE Technologies</cp:lastModifiedBy>
  <cp:revision>1</cp:revision>
  <dcterms:created xsi:type="dcterms:W3CDTF">2026-04-22T17:57:51Z</dcterms:created>
  <dcterms:modified xsi:type="dcterms:W3CDTF">2026-04-22T17:57:51Z</dcterms:modified>
</cp:coreProperties>
</file>